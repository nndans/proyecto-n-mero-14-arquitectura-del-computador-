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Fira Code" panose="020B0809050000020004" pitchFamily="49" charset="0"/>
      <p:regular r:id="rId9"/>
      <p:bold r:id="rId10"/>
    </p:embeddedFont>
    <p:embeddedFont>
      <p:font typeface="Inter" panose="020B0604020202020204" charset="0"/>
      <p:regular r:id="rId11"/>
      <p:bold r:id="rId12"/>
      <p:italic r:id="rId13"/>
      <p:boldItalic r:id="rId14"/>
    </p:embeddedFont>
    <p:embeddedFont>
      <p:font typeface="Merriweather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8F06377-E323-45A5-B582-2FC4AC85DA0B}">
  <a:tblStyle styleId="{E8F06377-E323-45A5-B582-2FC4AC85DA0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h637979bc7fef51f2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h637979bc7fef51f2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5638800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9753600" y="609600"/>
            <a:ext cx="1676400" cy="295275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762000" y="5638800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9906000" y="666750"/>
            <a:ext cx="146685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Proyecto #14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2494657"/>
            <a:ext cx="9101137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Impacto del Tamaño de Línea de Caché en el Rendimiento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3782317"/>
            <a:ext cx="7524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Análisis empírico de la localidad espacial, contaminación de caché y Tiempo Medio de Acceso a Memoria (AMAT) mediante simulación en C++11.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9782175" y="6086475"/>
            <a:ext cx="2059781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Bárbula, Octubre de 2026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62000" y="609600"/>
            <a:ext cx="44767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UNIVERSIDAD DE CARABOBO • FACYT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762000" y="809625"/>
            <a:ext cx="44767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Escuela de Computación — Arquitectura del Computador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62000" y="5876925"/>
            <a:ext cx="2750343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AUTORES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762000" y="6057900"/>
            <a:ext cx="2750343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Daniel Gutierrez • Gabriel Diaz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3343275" y="5876925"/>
            <a:ext cx="2202656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ENTORNO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3343275" y="6057900"/>
            <a:ext cx="2202656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GCC C++11 / GNU/Linux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/>
          <p:nvPr/>
        </p:nvSpPr>
        <p:spPr>
          <a:xfrm>
            <a:off x="762000" y="5562600"/>
            <a:ext cx="10668000" cy="762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762000" y="2719387"/>
            <a:ext cx="4743450" cy="1571625"/>
          </a:xfrm>
          <a:prstGeom prst="roundRect">
            <a:avLst>
              <a:gd name="adj" fmla="val 2424"/>
            </a:avLst>
          </a:prstGeom>
          <a:solidFill>
            <a:srgbClr val="F0FD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6686550" y="2719387"/>
            <a:ext cx="4743450" cy="1571625"/>
          </a:xfrm>
          <a:prstGeom prst="roundRect">
            <a:avLst>
              <a:gd name="adj" fmla="val 2424"/>
            </a:avLst>
          </a:prstGeom>
          <a:solidFill>
            <a:srgbClr val="FE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762000" y="2719387"/>
            <a:ext cx="38100" cy="157162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6686550" y="2719387"/>
            <a:ext cx="38100" cy="157162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975" y="58102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800" y="3009900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91350" y="300990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01. PLANTEAMIENTO DEL PROBLEMA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762000" y="7620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El Dilema del Tamaño de Línea de Caché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5667375" y="3405187"/>
            <a:ext cx="857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VS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066800" y="3338512"/>
            <a:ext cx="4267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Aumentar la línea aprovecha la cercanía de datos adyacentes, reduciendo fallos compulsivos futuros en accesos secuenciales.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991350" y="3338512"/>
            <a:ext cx="4267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Líneas gigantes saturadas desplazan bloques útiles, incrementando el tiempo de transferencia del bus y degradando el AMAT.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1076325" y="5762625"/>
            <a:ext cx="7465218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OBJETIVO DE EVALUACIÓN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1076325" y="5934075"/>
            <a:ext cx="7465218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Determinar el punto de equilibrio óptimo entre Tasa de Aciertos (Hit Rate) y AMAT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1400175" y="2986087"/>
            <a:ext cx="3587948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4532D"/>
                </a:solidFill>
                <a:latin typeface="Merriweather"/>
                <a:ea typeface="Merriweather"/>
                <a:cs typeface="Merriweather"/>
                <a:sym typeface="Merriweather"/>
              </a:rPr>
              <a:t>Beneficio: Localidad Espacial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7296150" y="2986087"/>
            <a:ext cx="48958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7F1D1D"/>
                </a:solidFill>
                <a:latin typeface="Merriweather"/>
                <a:ea typeface="Merriweather"/>
                <a:cs typeface="Merriweather"/>
                <a:sym typeface="Merriweather"/>
              </a:rPr>
              <a:t>Riesgo: Contaminación y Transferencia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762000" y="1409700"/>
            <a:ext cx="5181600" cy="4914900"/>
          </a:xfrm>
          <a:prstGeom prst="roundRect">
            <a:avLst>
              <a:gd name="adj" fmla="val 1162"/>
            </a:avLst>
          </a:prstGeom>
          <a:solidFill>
            <a:srgbClr val="F8FAFC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6248400" y="1409700"/>
            <a:ext cx="5181600" cy="4914900"/>
          </a:xfrm>
          <a:prstGeom prst="roundRect">
            <a:avLst>
              <a:gd name="adj" fmla="val 1162"/>
            </a:avLst>
          </a:prstGeom>
          <a:solidFill>
            <a:srgbClr val="F8FAFC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1000125" y="2491680"/>
            <a:ext cx="4705350" cy="3269158"/>
          </a:xfrm>
          <a:prstGeom prst="roundRect">
            <a:avLst>
              <a:gd name="adj" fmla="val 1748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6486525" y="2491680"/>
            <a:ext cx="4705350" cy="2889944"/>
          </a:xfrm>
          <a:prstGeom prst="roundRect">
            <a:avLst>
              <a:gd name="adj" fmla="val 1977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6486525" y="5534025"/>
            <a:ext cx="4705350" cy="552450"/>
          </a:xfrm>
          <a:prstGeom prst="roundRect">
            <a:avLst>
              <a:gd name="adj" fmla="val 6896"/>
            </a:avLst>
          </a:prstGeom>
          <a:solidFill>
            <a:srgbClr val="E0F2FE"/>
          </a:solidFill>
          <a:ln w="9525" cap="flat" cmpd="sng">
            <a:solidFill>
              <a:srgbClr val="BAE6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4486275" y="1647825"/>
            <a:ext cx="1219200" cy="228600"/>
          </a:xfrm>
          <a:prstGeom prst="roundRect">
            <a:avLst>
              <a:gd name="adj" fmla="val 16666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10172700" y="1647825"/>
            <a:ext cx="1019175" cy="228600"/>
          </a:xfrm>
          <a:prstGeom prst="roundRect">
            <a:avLst>
              <a:gd name="adj" fmla="val 16666"/>
            </a:avLst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0350" y="5676900"/>
            <a:ext cx="12382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02. ARQUITECTURA DEL SIMULADOR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762000" y="7620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Estructuras de Datos Principales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1000125" y="2152650"/>
            <a:ext cx="5881687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Representa un bloque de memoria cargado en la caché.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1000125" y="5913239"/>
            <a:ext cx="5881687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valida:</a:t>
            </a: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Disponibilidad | </a:t>
            </a:r>
            <a:r>
              <a:rPr lang="en-US" sz="97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tag:</a:t>
            </a: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ID de dirección | </a:t>
            </a:r>
            <a:r>
              <a:rPr lang="en-US" sz="97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lru:</a:t>
            </a: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Reemplazo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6486525" y="2152650"/>
            <a:ext cx="5705475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Agrupa un vector de líneas paralelas (Asociatividad).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1000125" y="1652587"/>
            <a:ext cx="197524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struct LineaCache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4562475" y="1685925"/>
            <a:ext cx="11620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334155"/>
                </a:solidFill>
                <a:latin typeface="Fira Code"/>
                <a:ea typeface="Fira Code"/>
                <a:cs typeface="Fira Code"/>
                <a:sym typeface="Fira Code"/>
              </a:rPr>
              <a:t>Casillero Mínimo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1152525" y="2644080"/>
            <a:ext cx="550068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bool</a:t>
            </a:r>
            <a:r>
              <a:rPr lang="en-US" sz="975" b="0" i="0" u="none" strike="noStrike" cap="none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 valida = </a:t>
            </a:r>
            <a:r>
              <a:rPr lang="en-US" sz="975" b="0" i="0" u="none" strike="noStrike" cap="none">
                <a:solidFill>
                  <a:srgbClr val="FBBF24"/>
                </a:solidFill>
                <a:latin typeface="Fira Code"/>
                <a:ea typeface="Fira Code"/>
                <a:cs typeface="Fira Code"/>
                <a:sym typeface="Fira Code"/>
              </a:rPr>
              <a:t>false</a:t>
            </a:r>
            <a:r>
              <a:rPr lang="en-US" sz="975" b="0" i="0" u="none" strike="noStrike" cap="none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1152525" y="2882205"/>
            <a:ext cx="550068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uint64_t</a:t>
            </a:r>
            <a:r>
              <a:rPr lang="en-US" sz="975" b="0" i="0" u="none" strike="noStrike" cap="none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 tag = </a:t>
            </a:r>
            <a:r>
              <a:rPr lang="en-US" sz="975" b="0" i="0" u="none" strike="noStrike" cap="none">
                <a:solidFill>
                  <a:srgbClr val="FBBF24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r>
              <a:rPr lang="en-US" sz="975" b="0" i="0" u="none" strike="noStrike" cap="none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1152525" y="3120330"/>
            <a:ext cx="550068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uint64_t</a:t>
            </a:r>
            <a:r>
              <a:rPr lang="en-US" sz="975" b="0" i="0" u="none" strike="noStrike" cap="none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 contador_lru = </a:t>
            </a:r>
            <a:r>
              <a:rPr lang="en-US" sz="975" b="0" i="0" u="none" strike="noStrike" cap="none">
                <a:solidFill>
                  <a:srgbClr val="FBBF24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r>
              <a:rPr lang="en-US" sz="975" b="0" i="0" u="none" strike="noStrike" cap="none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6486525" y="1652587"/>
            <a:ext cx="241280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struct ConjuntoCache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10248900" y="1685925"/>
            <a:ext cx="9620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Set de N Vías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6638925" y="2644080"/>
            <a:ext cx="550068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vector</a:t>
            </a:r>
            <a:r>
              <a:rPr lang="en-US" sz="975" b="0" i="0" u="none" strike="noStrike" cap="none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 lineas;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6610350" y="5657850"/>
            <a:ext cx="4552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Definición de Vías:</a:t>
            </a:r>
            <a:r>
              <a:rPr lang="en-US" sz="975" b="0" i="0" u="none" strike="noStrike" cap="none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 El número de elementos del vector determina el número exacto de vías de la memoria caché.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/>
          <p:nvPr/>
        </p:nvSpPr>
        <p:spPr>
          <a:xfrm>
            <a:off x="762000" y="2828925"/>
            <a:ext cx="10668000" cy="3495675"/>
          </a:xfrm>
          <a:prstGeom prst="roundRect">
            <a:avLst>
              <a:gd name="adj" fmla="val 1634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762000" y="1371600"/>
            <a:ext cx="3429000" cy="1228725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4381500" y="1371600"/>
            <a:ext cx="3429000" cy="1228725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8001000" y="1371600"/>
            <a:ext cx="3429000" cy="1228725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990600" y="3848100"/>
            <a:ext cx="10210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762000" y="533400"/>
            <a:ext cx="11430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03. LÓGICA HARDWARE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762000" y="7620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Decodificación Bitwise de Direcciones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952500" y="1562100"/>
            <a:ext cx="3143250" cy="84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PASO 1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4572000" y="1562100"/>
            <a:ext cx="3143250" cy="84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PASO 2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8191500" y="1562100"/>
            <a:ext cx="3143250" cy="84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PASO 3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990600" y="3019425"/>
            <a:ext cx="11201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// Cálculo de Index y Tag en C++11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990600" y="3257550"/>
            <a:ext cx="112014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uint64_t</a:t>
            </a:r>
            <a:r>
              <a:rPr lang="en-US" sz="1050" b="0" i="0" u="none" strike="noStrike" cap="none">
                <a:solidFill>
                  <a:srgbClr val="F1F5F9"/>
                </a:solidFill>
                <a:latin typeface="Fira Code"/>
                <a:ea typeface="Fira Code"/>
                <a:cs typeface="Fira Code"/>
                <a:sym typeface="Fira Code"/>
              </a:rPr>
              <a:t> index = (direccion &gt;&gt; bits_offset) &amp; mascara_index;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990600" y="3514725"/>
            <a:ext cx="112014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uint64_t</a:t>
            </a:r>
            <a:r>
              <a:rPr lang="en-US" sz="1050" b="0" i="0" u="none" strike="noStrike" cap="none">
                <a:solidFill>
                  <a:srgbClr val="F1F5F9"/>
                </a:solidFill>
                <a:latin typeface="Fira Code"/>
                <a:ea typeface="Fira Code"/>
                <a:cs typeface="Fira Code"/>
                <a:sym typeface="Fira Code"/>
              </a:rPr>
              <a:t> tag = direccion &gt;&gt; (bits_offset + bits_index);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990600" y="3962400"/>
            <a:ext cx="103060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2C55E"/>
                </a:solidFill>
                <a:latin typeface="Fira Code"/>
                <a:ea typeface="Fira Code"/>
                <a:cs typeface="Fira Code"/>
                <a:sym typeface="Fira Code"/>
              </a:rPr>
              <a:t>✔ Búsqueda HIT:</a:t>
            </a:r>
            <a:r>
              <a:rPr lang="en-US" sz="900" b="0" i="0" u="none" strike="noStrike" cap="none">
                <a:solidFill>
                  <a:srgbClr val="F8FAFC"/>
                </a:solidFill>
                <a:latin typeface="Fira Code"/>
                <a:ea typeface="Fira Code"/>
                <a:cs typeface="Fira Code"/>
                <a:sym typeface="Fira Code"/>
              </a:rPr>
              <a:t> Recorre las Vías del Conjunto[index] buscando coincidencia de TAG.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962025" y="1819275"/>
            <a:ext cx="3975496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Desplazar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 Offset</a:t>
            </a:r>
            <a:endParaRPr dirty="0"/>
          </a:p>
        </p:txBody>
      </p:sp>
      <p:sp>
        <p:nvSpPr>
          <p:cNvPr id="163" name="Google Shape;163;p16"/>
          <p:cNvSpPr txBox="1"/>
          <p:nvPr/>
        </p:nvSpPr>
        <p:spPr>
          <a:xfrm>
            <a:off x="962025" y="2085975"/>
            <a:ext cx="3124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Descarta bits de bloque con desplazamiento a la derecha (&gt;&gt; offset).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4581525" y="1819275"/>
            <a:ext cx="3975496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Aislar Index (AND)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4581525" y="2085975"/>
            <a:ext cx="3124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Aplica máscara bitwise (&amp; mascara_index) para obtener la fila exacta.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8201025" y="1819275"/>
            <a:ext cx="3975496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Acceso Directo O(1)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8201025" y="2085975"/>
            <a:ext cx="3124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El índice mapea directamente al vector evitando Segmentation Fault.</a:t>
            </a:r>
            <a:endParaRPr/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/>
          <p:nvPr/>
        </p:nvSpPr>
        <p:spPr>
          <a:xfrm>
            <a:off x="609600" y="457200"/>
            <a:ext cx="362100" cy="228600"/>
          </a:xfrm>
          <a:prstGeom prst="roundRect">
            <a:avLst>
              <a:gd name="adj" fmla="val 16666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609600" y="4692848"/>
            <a:ext cx="109728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609600" y="4692848"/>
            <a:ext cx="38100" cy="7239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609600" y="2340173"/>
            <a:ext cx="10972800" cy="2124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6" name="Google Shape;176;p17"/>
          <p:cNvGraphicFramePr/>
          <p:nvPr/>
        </p:nvGraphicFramePr>
        <p:xfrm>
          <a:off x="609600" y="2340173"/>
          <a:ext cx="10972800" cy="2124100"/>
        </p:xfrm>
        <a:graphic>
          <a:graphicData uri="http://schemas.openxmlformats.org/drawingml/2006/table">
            <a:tbl>
              <a:tblPr>
                <a:noFill/>
                <a:tableStyleId>{E8F06377-E323-45A5-B582-2FC4AC85DA0B}</a:tableStyleId>
              </a:tblPr>
              <a:tblGrid>
                <a:gridCol w="305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3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7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Tamaño de Línea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Hit Rate (%)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Miss Rate (%)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AMAT (ciclos)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 bytes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67.24%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EF444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32.76%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33.76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 bytes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84.50%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15.50%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16.50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2563E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128 bytes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6A3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87.67%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6A34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12.33%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2563E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13.33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7" name="Google Shape;177;p17"/>
          <p:cNvSpPr txBox="1"/>
          <p:nvPr/>
        </p:nvSpPr>
        <p:spPr>
          <a:xfrm>
            <a:off x="609600" y="762000"/>
            <a:ext cx="115824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Tabla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Comparativa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Rendimiento</a:t>
            </a:r>
            <a:endParaRPr dirty="0"/>
          </a:p>
        </p:txBody>
      </p:sp>
      <p:sp>
        <p:nvSpPr>
          <p:cNvPr id="178" name="Google Shape;178;p17"/>
          <p:cNvSpPr txBox="1"/>
          <p:nvPr/>
        </p:nvSpPr>
        <p:spPr>
          <a:xfrm>
            <a:off x="723900" y="495300"/>
            <a:ext cx="2286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1085850" y="495300"/>
            <a:ext cx="2345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RESULTADOS EMPÍRICOS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990600" y="4883348"/>
            <a:ext cx="10496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Hallazgo Clave: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 aumentar el tamaño de línea a 128 bytes, la tasa de aciertos alcanza su punto máximo con un </a:t>
            </a:r>
            <a:r>
              <a:rPr lang="en-US" sz="1200" b="1" i="0" u="none" strike="noStrike" cap="non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87.67%</a:t>
            </a:r>
            <a:r>
              <a:rPr lang="en-US" sz="1200" b="0" i="0" u="none" strike="noStrike" cap="non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 el AMAT disminuye significativamente a </a:t>
            </a:r>
            <a:r>
              <a:rPr lang="en-US" sz="1200" b="1" i="0" u="none" strike="noStrike" cap="non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13.33 ciclos</a:t>
            </a:r>
            <a:r>
              <a:rPr lang="en-US" sz="1200" b="0" i="0" u="none" strike="noStrike" cap="non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/>
          <p:nvPr/>
        </p:nvSpPr>
        <p:spPr>
          <a:xfrm>
            <a:off x="762000" y="5819775"/>
            <a:ext cx="106680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762000" y="3397448"/>
            <a:ext cx="51435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6286500" y="3397448"/>
            <a:ext cx="51435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762000" y="5819775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762000" y="3397448"/>
            <a:ext cx="19050" cy="7239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286500" y="3397448"/>
            <a:ext cx="19050" cy="7239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05. CONCLUSIONES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762000" y="876300"/>
            <a:ext cx="8101012" cy="822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El Rendimiento de la Caché No Crece de Forma Lineal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8782050" y="6072187"/>
            <a:ext cx="3309937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Arquitectura del Computador • FACYT UC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971550" y="3397448"/>
            <a:ext cx="647580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Merriweather"/>
                <a:ea typeface="Merriweather"/>
                <a:cs typeface="Merriweather"/>
                <a:sym typeface="Merriweather"/>
              </a:rPr>
              <a:t>Umbral Óptimo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971550" y="3692723"/>
            <a:ext cx="50292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Existe un límite en el tamaño de bloque dictado por la localidad del programa. Sobrepasarlo destruye la eficiencia.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6496050" y="3397448"/>
            <a:ext cx="56959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Merriweather"/>
                <a:ea typeface="Merriweather"/>
                <a:cs typeface="Merriweather"/>
                <a:sym typeface="Merriweather"/>
              </a:rPr>
              <a:t>Parametrización Eficiente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6496050" y="3692723"/>
            <a:ext cx="50292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Recibir la geometría por consola permitió evaluar la misma traza de memoria sin requerir recompilaciones.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504</Words>
  <Application>Microsoft Office PowerPoint</Application>
  <PresentationFormat>Panorámica</PresentationFormat>
  <Paragraphs>75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3" baseType="lpstr">
      <vt:lpstr>Calibri</vt:lpstr>
      <vt:lpstr>Arial</vt:lpstr>
      <vt:lpstr>Fira Code</vt:lpstr>
      <vt:lpstr>Merriweather</vt:lpstr>
      <vt:lpstr>Times New Roman</vt:lpstr>
      <vt:lpstr>Inter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daniel alejandro gutierrez quintero</cp:lastModifiedBy>
  <cp:revision>2</cp:revision>
  <dcterms:modified xsi:type="dcterms:W3CDTF">2026-10-16T17:17:17Z</dcterms:modified>
</cp:coreProperties>
</file>